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c3738b9a9bc4d9e" /><Relationship Type="http://schemas.openxmlformats.org/officeDocument/2006/relationships/extended-properties" Target="/docProps/app.xml" Id="R0688dd95099b40f0" /><Relationship Type="http://schemas.openxmlformats.org/officeDocument/2006/relationships/officeDocument" Target="/ppt/presentation.xml" Id="R20ecd6b446dd4ca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bca78c10f3e4856"/>
  </p:sldMasterIdLst>
  <p:notesMasterIdLst>
    <p:notesMasterId xmlns:r="http://schemas.openxmlformats.org/officeDocument/2006/relationships" r:id="R3997e07f29df4f71"/>
  </p:notesMasterIdLst>
  <p:sldIdLst>
    <p:sldId xmlns:r="http://schemas.openxmlformats.org/officeDocument/2006/relationships" id="256" r:id="Rf0f44d46a1fd45d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75f64598ede4ae9" /><Relationship Type="http://schemas.openxmlformats.org/officeDocument/2006/relationships/slideMaster" Target="/ppt/slideMasters/slideMaster1.xml" Id="R3bca78c10f3e4856" /><Relationship Type="http://schemas.openxmlformats.org/officeDocument/2006/relationships/notesMaster" Target="/ppt/notesMasters/notesMaster1.xml" Id="R3997e07f29df4f71" /><Relationship Type="http://schemas.openxmlformats.org/officeDocument/2006/relationships/presProps" Target="/ppt/presProps.xml" Id="R6c920c566b464be4" /><Relationship Type="http://schemas.openxmlformats.org/officeDocument/2006/relationships/tableStyles" Target="/ppt/tableStyles.xml" Id="R4b36c60e20e440d5" /><Relationship Type="http://schemas.openxmlformats.org/officeDocument/2006/relationships/slide" Target="/ppt/slides/slide1.xml" Id="Rf0f44d46a1fd45d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19320d0ee8f4de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9925209d25e4600" /><Relationship Type="http://schemas.openxmlformats.org/officeDocument/2006/relationships/notesMaster" Target="/ppt/notesMasters/notesMaster1.xml" Id="Ra3bab578d74a425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: docs/SWOT_SOURCE.md, version validée. La collecte &gt;10 000 n'est pas démontrée ; l'effet environnemental évoqué reste hypothétique et non mesuré. Les captures finales MLflow v53 sont encore à constituer.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84d514156aa427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369c94a49f041bf" /><Relationship Type="http://schemas.openxmlformats.org/officeDocument/2006/relationships/slideLayout" Target="/ppt/slideLayouts/slideLayout1.xml" Id="R4e58b0a948004f9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e58b0a948004f9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46b0e347004964" /><Relationship Type="http://schemas.openxmlformats.org/officeDocument/2006/relationships/notesSlide" Target="/ppt/notesSlides/notesSlide1.xml" Id="Rbab6d088fec94c73" /></Relationships>
</file>

<file path=ppt/slides/slide1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microsoft.com/office/powerpoint/2010/main">
  <ns0:cSld>
    <ns0:bg>
      <ns0:bgPr>
        <ns1:solidFill>
          <ns1:srgbClr val="FFFFFF"/>
        </ns1:solidFill>
      </ns0:bgPr>
    </ns0:bg>
    <ns0:spTree>
      <ns0:nvGrpSpPr>
        <ns0:cNvPr id="1" name=""/>
        <ns0:cNvGrpSpPr/>
        <ns0:nvPr/>
      </ns0:nvGrpSpPr>
      <ns0:grpSpPr>
        <ns1:xfrm/>
      </ns0:grpSpPr>
      <ns0:sp>
        <ns0:nvSpPr>
          <ns0:cNvPr id="19" name="">
            <ns1:extLst>
              <ns1:ext uri="{FF2B5EF4-FFF2-40B4-BE49-F238E27FC236}">
                <ns2:creationId id="{192F4900-4145-4DC9-A4A2-F467D3A9281F}"/>
              </ns1:ext>
            </ns1:extLst>
          </ns0:cNvPr>
          <ns0:cNvSpPr>
            <ns1:spLocks noGrp="1"/>
          </ns0:cNvSpPr>
          <ns0:nvPr/>
        </ns0:nvSpPr>
        <ns0:spPr>
          <ns1:xfrm>
            <ns1:off x="590550" y="295275"/>
            <ns1:ext cx="10953750" cy="552450"/>
          </ns1:xfrm>
          <ns1:prstGeom prst="rect">
            <ns1:avLst/>
          </ns1:prstGeom>
          <ns1:noFill/>
          <ns1:ln w="0">
            <ns1:noFill/>
          </ns1:ln>
        </ns0:spPr>
        <ns0:txBody>
          <ns1:bodyPr anchor="ctr">
            <ns1:noAutofit/>
          </ns1:bodyPr>
          <ns1:lstStyle/>
          <ns1:p>
            <ns1:pPr>
              <ns1:defRPr sz="3000" b="1">
                <ns1:solidFill>
                  <ns1:srgbClr val="142637"/>
                </ns1:solidFill>
                <ns1:latin typeface="Arial"/>
                <ns1:ea typeface="Arial"/>
                <ns1:cs typeface="Arial"/>
              </ns1:defRPr>
            </ns1:pPr>
            <ns1:r>
              <ns1:rPr sz="3000" b="1">
                <ns1:solidFill>
                  <ns1:srgbClr val="142637"/>
                </ns1:solidFill>
                <ns1:latin typeface="Arial"/>
                <ns1:ea typeface="Arial"/>
                <ns1:cs typeface="Arial"/>
              </ns1:rPr>
              <ns1:t>SWOT du projet Satisfaction Client</ns1:t>
            </ns1:r>
          </ns1:p>
        </ns0:txBody>
      </ns0:sp>
      <ns0:sp>
        <ns0:nvSpPr>
          <ns0:cNvPr id="2" name="">
            <ns1:extLst>
              <ns1:ext uri="{FF2B5EF4-FFF2-40B4-BE49-F238E27FC236}">
                <ns2:creationId id="{975DC075-AB7F-4535-A51C-FB12E0A04158}"/>
              </ns1:ext>
            </ns1:extLst>
          </ns0:cNvPr>
          <ns0:cNvSpPr>
            <ns1:spLocks noGrp="1"/>
          </ns0:cNvSpPr>
          <ns0:nvPr/>
        </ns0:nvSpPr>
        <ns0:spPr>
          <ns1:xfrm>
            <ns1:off x="600075" y="866775"/>
            <ns1:ext cx="10953750" cy="266700"/>
          </ns1:xfrm>
          <ns1:prstGeom prst="rect">
            <ns1:avLst/>
          </ns1:prstGeom>
          <ns1:noFill/>
          <ns1:ln w="0">
            <ns1:noFill/>
          </ns1:ln>
        </ns0:spPr>
        <ns0:txBody>
          <ns1:bodyPr anchor="ctr">
            <ns1:noAutofit/>
          </ns1:bodyPr>
          <ns1:lstStyle/>
          <ns1:p>
            <ns1:pPr>
              <ns1:defRPr sz="1350" b="0">
                <ns1:solidFill>
                  <ns1:srgbClr val="536171"/>
                </ns1:solidFill>
                <ns1:latin typeface="Arial"/>
                <ns1:ea typeface="Arial"/>
                <ns1:cs typeface="Arial"/>
              </ns1:defRPr>
            </ns1:pPr>
            <ns1:r>
              <ns1:rPr sz="1350" b="0">
                <ns1:solidFill>
                  <ns1:srgbClr val="536171"/>
                </ns1:solidFill>
                <ns1:latin typeface="Arial"/>
                <ns1:ea typeface="Arial"/>
                <ns1:cs typeface="Arial"/>
              </ns1:rPr>
              <ns1:t>État mis à jour au 30 septembre 2026  |  Hypothèses et limites de soutenance</ns1:t>
            </ns1:r>
          </ns1:p>
        </ns0:txBody>
      </ns0:sp>
      <ns0:sp>
        <ns0:nvSpPr>
          <ns0:cNvPr id="3" name="">
            <ns1:extLst>
              <ns1:ext uri="{FF2B5EF4-FFF2-40B4-BE49-F238E27FC236}">
                <ns2:creationId id="{DCE24DC1-D5EA-4FB7-853B-BDC3C2F262D5}"/>
              </ns1:ext>
            </ns1:extLst>
          </ns0:cNvPr>
          <ns0:cNvSpPr>
            <ns1:spLocks noGrp="1"/>
          </ns0:cNvSpPr>
          <ns0:nvPr/>
        </ns0:nvSpPr>
        <ns0:spPr>
          <ns1:xfrm>
            <ns1:off x="590550" y="1428750"/>
            <ns1:ext cx="5391150" cy="2228850"/>
          </ns1:xfrm>
          <ns1:prstGeom prst="rect">
            <ns1:avLst/>
          </ns1:prstGeom>
          <ns1:solidFill>
            <ns1:srgbClr val="EFF5F8"/>
          </ns1:solidFill>
          <ns1:ln w="9525">
            <ns1:solidFill>
              <ns1:srgbClr val="B4CBD9"/>
            </ns1:solidFill>
          </ns1:ln>
        </ns0:spPr>
      </ns0:sp>
      <ns0:sp>
        <ns0:nvSpPr>
          <ns0:cNvPr id="4" name="">
            <ns1:extLst>
              <ns1:ext uri="{FF2B5EF4-FFF2-40B4-BE49-F238E27FC236}">
                <ns2:creationId id="{3F1A93D4-4E10-42CE-9E07-E1BF288C0B37}"/>
              </ns1:ext>
            </ns1:extLst>
          </ns0:cNvPr>
          <ns0:cNvSpPr>
            <ns1:spLocks noGrp="1"/>
          </ns0:cNvSpPr>
          <ns0:nvPr/>
        </ns0:nvSpPr>
        <ns0:spPr>
          <ns1:xfrm>
            <ns1:off x="819150" y="1600200"/>
            <ns1:ext cx="4953000" cy="304800"/>
          </ns1:xfrm>
          <ns1:prstGeom prst="rect">
            <ns1:avLst/>
          </ns1:prstGeom>
          <ns1:noFill/>
          <ns1:ln w="0">
            <ns1:noFill/>
          </ns1:ln>
        </ns0:spPr>
        <ns0:txBody>
          <ns1:bodyPr anchor="ctr">
            <ns1:noAutofit/>
          </ns1:bodyPr>
          <ns1:lstStyle/>
          <ns1:p>
            <ns1:pPr>
              <ns1:defRPr sz="1725" b="1">
                <ns1:solidFill>
                  <ns1:srgbClr val="155A81"/>
                </ns1:solidFill>
                <ns1:latin typeface="Arial"/>
                <ns1:ea typeface="Arial"/>
                <ns1:cs typeface="Arial"/>
              </ns1:defRPr>
            </ns1:pPr>
            <ns1:r>
              <ns1:rPr sz="1725" b="1">
                <ns1:solidFill>
                  <ns1:srgbClr val="155A81"/>
                </ns1:solidFill>
                <ns1:latin typeface="Arial"/>
                <ns1:ea typeface="Arial"/>
                <ns1:cs typeface="Arial"/>
              </ns1:rPr>
              <ns1:t>FORCES</ns1:t>
            </ns1:r>
          </ns1:p>
        </ns0:txBody>
      </ns0:sp>
      <ns0:sp>
        <ns0:nvSpPr>
          <ns0:cNvPr id="5" name="">
            <ns1:extLst>
              <ns1:ext uri="{FF2B5EF4-FFF2-40B4-BE49-F238E27FC236}">
                <ns2:creationId id="{16040025-5152-40AD-873D-EB89826778F0}"/>
              </ns1:ext>
            </ns1:extLst>
          </ns0:cNvPr>
          <ns0:cNvSpPr>
            <ns1:spLocks noGrp="1"/>
          </ns0:cNvSpPr>
          <ns0:nvPr/>
        </ns0:nvSpPr>
        <ns0:spPr>
          <ns1:xfrm>
            <ns1:off x="819150" y="2076450"/>
            <ns1:ext cx="4905375" cy="552450"/>
          </ns1:xfrm>
          <ns1:prstGeom prst="rect">
            <ns1:avLst/>
          </ns1:prstGeom>
          <ns1:noFill/>
          <ns1:ln w="0">
            <ns1:noFill/>
          </ns1:ln>
        </ns0:spPr>
        <ns0:txBody>
          <ns1:bodyPr anchor="ctr">
            <ns1:noAutofit/>
          </ns1:bodyPr>
          <ns1:lstStyle/>
          <ns1:p>
            <ns1:pPr>
              <ns1:defRPr sz="1463" b="0">
                <ns1:solidFill>
                  <ns1:srgbClr val="142637"/>
                </ns1:solidFill>
                <ns1:latin typeface="Arial"/>
                <ns1:ea typeface="Arial"/>
                <ns1:cs typeface="Arial"/>
              </ns1:defRPr>
            </ns1:pPr>
            <ns1:r>
              <ns1:rPr sz="1463" b="0">
                <ns1:solidFill>
                  <ns1:srgbClr val="142637"/>
                </ns1:solidFill>
                <ns1:latin typeface="Arial"/>
                <ns1:ea typeface="Arial"/>
                <ns1:cs typeface="Arial"/>
              </ns1:rPr>
              <ns1:t>• Import, analyse et tableau de bord ; JWT et rôles.</ns1:t>
            </ns1:r>
          </ns1:p>
        </ns0:txBody>
      </ns0:sp>
      <ns0:sp>
        <ns0:nvSpPr>
          <ns0:cNvPr id="6" name="">
            <ns1:extLst>
              <ns1:ext uri="{FF2B5EF4-FFF2-40B4-BE49-F238E27FC236}">
                <ns2:creationId id="{144C0C40-8899-463A-9837-56AC8D9CB4EC}"/>
              </ns1:ext>
            </ns1:extLst>
          </ns0:cNvPr>
          <ns0:cNvSpPr>
            <ns1:spLocks noGrp="1"/>
          </ns0:cNvSpPr>
          <ns0:nvPr/>
        </ns0:nvSpPr>
        <ns0:spPr>
          <ns1:xfrm>
            <ns1:off x="819150" y="2733675"/>
            <ns1:ext cx="4905375" cy="685800"/>
          </ns1:xfrm>
          <ns1:prstGeom prst="rect">
            <ns1:avLst/>
          </ns1:prstGeom>
          <ns1:noFill/>
          <ns1:ln w="0">
            <ns1:noFill/>
          </ns1:ln>
        </ns0:spPr>
        <ns0:txBody>
          <ns1:bodyPr anchor="ctr">
            <ns1:noAutofit/>
          </ns1:bodyPr>
          <ns1:lstStyle/>
          <ns1:p>
            <ns1:pPr>
              <ns1:defRPr sz="1463" b="0">
                <ns1:solidFill>
                  <ns1:srgbClr val="142637"/>
                </ns1:solidFill>
                <ns1:latin typeface="Arial"/>
                <ns1:ea typeface="Arial"/>
                <ns1:cs typeface="Arial"/>
              </ns1:defRPr>
            </ns1:pPr>
            <ns1:r>
              <ns1:rPr sz="1463" b="0">
                <ns1:solidFill>
                  <ns1:srgbClr val="142637"/>
                </ns1:solidFill>
                <ns1:latin typeface="Arial"/>
                <ns1:ea typeface="Arial"/>
                <ns1:cs typeface="Arial"/>
              </ns1:rPr>
              <ns1:t>• ML dédupliqué ; v53 documenté et identifiable dans MLflow conservé. Déploiement et supervision de test.</ns1:t>
            </ns1:r>
          </ns1:p>
        </ns0:txBody>
      </ns0:sp>
      <ns0:sp>
        <ns0:nvSpPr>
          <ns0:cNvPr id="7" name="">
            <ns1:extLst>
              <ns1:ext uri="{FF2B5EF4-FFF2-40B4-BE49-F238E27FC236}">
                <ns2:creationId id="{96FA16C6-7686-4F2E-8C57-832F7A73251C}"/>
              </ns1:ext>
            </ns1:extLst>
          </ns0:cNvPr>
          <ns0:cNvSpPr>
            <ns1:spLocks noGrp="1"/>
          </ns0:cNvSpPr>
          <ns0:nvPr/>
        </ns0:nvSpPr>
        <ns0:spPr>
          <ns1:xfrm>
            <ns1:off x="6191250" y="1428750"/>
            <ns1:ext cx="5391150" cy="2228850"/>
          </ns1:xfrm>
          <ns1:prstGeom prst="rect">
            <ns1:avLst/>
          </ns1:prstGeom>
          <ns1:solidFill>
            <ns1:srgbClr val="F8F2F0"/>
          </ns1:solidFill>
          <ns1:ln w="9525">
            <ns1:solidFill>
              <ns1:srgbClr val="D9C4BE"/>
            </ns1:solidFill>
          </ns1:ln>
        </ns0:spPr>
      </ns0:sp>
      <ns0:sp>
        <ns0:nvSpPr>
          <ns0:cNvPr id="8" name="">
            <ns1:extLst>
              <ns1:ext uri="{FF2B5EF4-FFF2-40B4-BE49-F238E27FC236}">
                <ns2:creationId id="{D5230432-5A08-4570-98BB-B5E57C7CED4A}"/>
              </ns1:ext>
            </ns1:extLst>
          </ns0:cNvPr>
          <ns0:cNvSpPr>
            <ns1:spLocks noGrp="1"/>
          </ns0:cNvSpPr>
          <ns0:nvPr/>
        </ns0:nvSpPr>
        <ns0:spPr>
          <ns1:xfrm>
            <ns1:off x="6419850" y="1600200"/>
            <ns1:ext cx="4953000" cy="304800"/>
          </ns1:xfrm>
          <ns1:prstGeom prst="rect">
            <ns1:avLst/>
          </ns1:prstGeom>
          <ns1:noFill/>
          <ns1:ln w="0">
            <ns1:noFill/>
          </ns1:ln>
        </ns0:spPr>
        <ns0:txBody>
          <ns1:bodyPr anchor="ctr">
            <ns1:noAutofit/>
          </ns1:bodyPr>
          <ns1:lstStyle/>
          <ns1:p>
            <ns1:pPr>
              <ns1:defRPr sz="1725" b="1">
                <ns1:solidFill>
                  <ns1:srgbClr val="155A81"/>
                </ns1:solidFill>
                <ns1:latin typeface="Arial"/>
                <ns1:ea typeface="Arial"/>
                <ns1:cs typeface="Arial"/>
              </ns1:defRPr>
            </ns1:pPr>
            <ns1:r>
              <ns1:rPr sz="1725" b="1">
                <ns1:solidFill>
                  <ns1:srgbClr val="155A81"/>
                </ns1:solidFill>
                <ns1:latin typeface="Arial"/>
                <ns1:ea typeface="Arial"/>
                <ns1:cs typeface="Arial"/>
              </ns1:rPr>
              <ns1:t>FAIBLESSES</ns1:t>
            </ns1:r>
          </ns1:p>
        </ns0:txBody>
      </ns0:sp>
      <ns0:sp>
        <ns0:nvSpPr>
          <ns0:cNvPr id="9" name="">
            <ns1:extLst>
              <ns1:ext uri="{FF2B5EF4-FFF2-40B4-BE49-F238E27FC236}">
                <ns2:creationId id="{69926761-B265-4B47-A302-5545BA0B28F0}"/>
              </ns1:ext>
            </ns1:extLst>
          </ns0:cNvPr>
          <ns0:cNvSpPr>
            <ns1:spLocks noGrp="1"/>
          </ns0:cNvSpPr>
          <ns0:nvPr/>
        </ns0:nvSpPr>
        <ns0:spPr>
          <ns1:xfrm>
            <ns1:off x="6419850" y="2076450"/>
            <ns1:ext cx="4905375" cy="552450"/>
          </ns1:xfrm>
          <ns1:prstGeom prst="rect">
            <ns1:avLst/>
          </ns1:prstGeom>
          <ns1:noFill/>
          <ns1:ln w="0">
            <ns1:noFill/>
          </ns1:ln>
        </ns0:spPr>
        <ns0:txBody>
          <ns1:bodyPr anchor="ctr">
            <ns1:noAutofit/>
          </ns1:bodyPr>
          <ns1:lstStyle/>
          <ns1:p>
            <ns1:pPr>
              <ns1:defRPr sz="1463" b="0">
                <ns1:solidFill>
                  <ns1:srgbClr val="142637"/>
                </ns1:solidFill>
                <ns1:latin typeface="Arial"/>
                <ns1:ea typeface="Arial"/>
                <ns1:cs typeface="Arial"/>
              </ns1:defRPr>
            </ns1:pPr>
            <ns1:r>
              <ns1:rPr sz="1463" b="0">
                <ns1:solidFill>
                  <ns1:srgbClr val="142637"/>
                </ns1:solidFill>
                <ns1:latin typeface="Arial"/>
                <ns1:ea typeface="Arial"/>
                <ns1:cs typeface="Arial"/>
              </ns1:rPr>
              <ns1:t>• Droits de réutilisation et portée temporelle de la collecte Vapoter à cadrer.</ns1:t>
            </ns1:r>
          </ns1:p>
        </ns0:txBody>
      </ns0:sp>
      <ns0:sp>
        <ns0:nvSpPr>
          <ns0:cNvPr id="10" name="">
            <ns1:extLst>
              <ns1:ext uri="{FF2B5EF4-FFF2-40B4-BE49-F238E27FC236}">
                <ns2:creationId id="{C22A82BA-5E27-469D-A0E4-1BC46926196D}"/>
              </ns1:ext>
            </ns1:extLst>
          </ns0:cNvPr>
          <ns0:cNvSpPr>
            <ns1:spLocks noGrp="1"/>
          </ns0:cNvSpPr>
          <ns0:nvPr/>
        </ns0:nvSpPr>
        <ns0:spPr>
          <ns1:xfrm>
            <ns1:off x="6419850" y="2733675"/>
            <ns1:ext cx="4905375" cy="685800"/>
          </ns1:xfrm>
          <ns1:prstGeom prst="rect">
            <ns1:avLst/>
          </ns1:prstGeom>
          <ns1:noFill/>
          <ns1:ln w="0">
            <ns1:noFill/>
          </ns1:ln>
        </ns0:spPr>
        <ns0:txBody>
          <ns1:bodyPr anchor="ctr">
            <ns1:noAutofit/>
          </ns1:bodyPr>
          <ns1:lstStyle/>
          <ns1:p>
            <ns1:pPr>
              <ns1:defRPr sz="1463" b="0">
                <ns1:solidFill>
                  <ns1:srgbClr val="142637"/>
                </ns1:solidFill>
                <ns1:latin typeface="Arial"/>
                <ns1:ea typeface="Arial"/>
                <ns1:cs typeface="Arial"/>
              </ns1:defRPr>
            </ns1:pPr>
            <ns1:r>
              <ns1:rPr sz="1463" b="0">
                <ns1:solidFill>
                  <ns1:srgbClr val="142637"/>
                </ns1:solidFill>
                <ns1:latin typeface="Arial"/>
                <ns1:ea typeface="Arial"/>
                <ns1:cs typeface="Arial"/>
              </ns1:rPr>
              <ns1:t>• Corpus et classe Neutre limités ; accessibilité et RGPD non audités de bout en bout.</ns1:t>
            </ns1:r>
          </ns1:p>
        </ns0:txBody>
      </ns0:sp>
      <ns0:sp>
        <ns0:nvSpPr>
          <ns0:cNvPr id="11" name="">
            <ns1:extLst>
              <ns1:ext uri="{FF2B5EF4-FFF2-40B4-BE49-F238E27FC236}">
                <ns2:creationId id="{FB67ACA6-9768-4490-9FEA-2A3D543FED4D}"/>
              </ns1:ext>
            </ns1:extLst>
          </ns0:cNvPr>
          <ns0:cNvSpPr>
            <ns1:spLocks noGrp="1"/>
          </ns0:cNvSpPr>
          <ns0:nvPr/>
        </ns0:nvSpPr>
        <ns0:spPr>
          <ns1:xfrm>
            <ns1:off x="590550" y="3924300"/>
            <ns1:ext cx="5391150" cy="2228850"/>
          </ns1:xfrm>
          <ns1:prstGeom prst="rect">
            <ns1:avLst/>
          </ns1:prstGeom>
          <ns1:solidFill>
            <ns1:srgbClr val="F1F5F0"/>
          </ns1:solidFill>
          <ns1:ln w="9525">
            <ns1:solidFill>
              <ns1:srgbClr val="C2D3BD"/>
            </ns1:solidFill>
          </ns1:ln>
        </ns0:spPr>
      </ns0:sp>
      <ns0:sp>
        <ns0:nvSpPr>
          <ns0:cNvPr id="12" name="">
            <ns1:extLst>
              <ns1:ext uri="{FF2B5EF4-FFF2-40B4-BE49-F238E27FC236}">
                <ns2:creationId id="{1850CD80-5E2B-4F5E-81E4-CE1FD538BADF}"/>
              </ns1:ext>
            </ns1:extLst>
          </ns0:cNvPr>
          <ns0:cNvSpPr>
            <ns1:spLocks noGrp="1"/>
          </ns0:cNvSpPr>
          <ns0:nvPr/>
        </ns0:nvSpPr>
        <ns0:spPr>
          <ns1:xfrm>
            <ns1:off x="819150" y="4095750"/>
            <ns1:ext cx="4953000" cy="304800"/>
          </ns1:xfrm>
          <ns1:prstGeom prst="rect">
            <ns1:avLst/>
          </ns1:prstGeom>
          <ns1:noFill/>
          <ns1:ln w="0">
            <ns1:noFill/>
          </ns1:ln>
        </ns0:spPr>
        <ns0:txBody>
          <ns1:bodyPr anchor="ctr">
            <ns1:noAutofit/>
          </ns1:bodyPr>
          <ns1:lstStyle/>
          <ns1:p>
            <ns1:pPr>
              <ns1:defRPr sz="1725" b="1">
                <ns1:solidFill>
                  <ns1:srgbClr val="155A81"/>
                </ns1:solidFill>
                <ns1:latin typeface="Arial"/>
                <ns1:ea typeface="Arial"/>
                <ns1:cs typeface="Arial"/>
              </ns1:defRPr>
            </ns1:pPr>
            <ns1:r>
              <ns1:rPr sz="1725" b="1">
                <ns1:solidFill>
                  <ns1:srgbClr val="155A81"/>
                </ns1:solidFill>
                <ns1:latin typeface="Arial"/>
                <ns1:ea typeface="Arial"/>
                <ns1:cs typeface="Arial"/>
              </ns1:rPr>
              <ns1:t>OPPORTUNITÉS</ns1:t>
            </ns1:r>
          </ns1:p>
        </ns0:txBody>
      </ns0:sp>
      <ns0:sp>
        <ns0:nvSpPr>
          <ns0:cNvPr id="13" name="">
            <ns1:extLst>
              <ns1:ext uri="{FF2B5EF4-FFF2-40B4-BE49-F238E27FC236}">
                <ns2:creationId id="{55760CDF-4A76-4A40-AB9E-F086C0EA7DD3}"/>
              </ns1:ext>
            </ns1:extLst>
          </ns0:cNvPr>
          <ns0:cNvSpPr>
            <ns1:spLocks noGrp="1"/>
          </ns0:cNvSpPr>
          <ns0:nvPr/>
        </ns0:nvSpPr>
        <ns0:spPr>
          <ns1:xfrm>
            <ns1:off x="819150" y="4572000"/>
            <ns1:ext cx="4905375" cy="552450"/>
          </ns1:xfrm>
          <ns1:prstGeom prst="rect">
            <ns1:avLst/>
          </ns1:prstGeom>
          <ns1:noFill/>
          <ns1:ln w="0">
            <ns1:noFill/>
          </ns1:ln>
        </ns0:spPr>
        <ns0:txBody>
          <ns1:bodyPr anchor="ctr">
            <ns1:noAutofit/>
          </ns1:bodyPr>
          <ns1:lstStyle/>
          <ns1:p>
            <ns1:pPr>
              <ns1:defRPr sz="1463" b="0">
                <ns1:solidFill>
                  <ns1:srgbClr val="142637"/>
                </ns1:solidFill>
                <ns1:latin typeface="Arial"/>
                <ns1:ea typeface="Arial"/>
                <ns1:cs typeface="Arial"/>
              </ns1:defRPr>
            </ns1:pPr>
            <ns1:r>
              <ns1:rPr sz="1463" b="0">
                <ns1:solidFill>
                  <ns1:srgbClr val="142637"/>
                </ns1:solidFill>
                <ns1:latin typeface="Arial"/>
                <ns1:ea typeface="Arial"/>
                <ns1:cs typeface="Arial"/>
              </ns1:rPr>
              <ns1:t>• Données fournies avec autorisation pour confirmer les irritants.</ns1:t>
            </ns1:r>
          </ns1:p>
        </ns0:txBody>
      </ns0:sp>
      <ns0:sp>
        <ns0:nvSpPr>
          <ns0:cNvPr id="14" name="">
            <ns1:extLst>
              <ns1:ext uri="{FF2B5EF4-FFF2-40B4-BE49-F238E27FC236}">
                <ns2:creationId id="{A81F2052-4EB2-4C08-BE18-829B207B5609}"/>
              </ns1:ext>
            </ns1:extLst>
          </ns0:cNvPr>
          <ns0:cNvSpPr>
            <ns1:spLocks noGrp="1"/>
          </ns0:cNvSpPr>
          <ns0:nvPr/>
        </ns0:nvSpPr>
        <ns0:spPr>
          <ns1:xfrm>
            <ns1:off x="819150" y="5229225"/>
            <ns1:ext cx="4905375" cy="685800"/>
          </ns1:xfrm>
          <ns1:prstGeom prst="rect">
            <ns1:avLst/>
          </ns1:prstGeom>
          <ns1:noFill/>
          <ns1:ln w="0">
            <ns1:noFill/>
          </ns1:ln>
        </ns0:spPr>
        <ns0:txBody>
          <ns1:bodyPr anchor="ctr">
            <ns1:noAutofit/>
          </ns1:bodyPr>
          <ns1:lstStyle/>
          <ns1:p>
            <ns1:pPr>
              <ns1:defRPr sz="1463" b="0">
                <ns1:solidFill>
                  <ns1:srgbClr val="142637"/>
                </ns1:solidFill>
                <ns1:latin typeface="Arial"/>
                <ns1:ea typeface="Arial"/>
                <ns1:cs typeface="Arial"/>
              </ns1:defRPr>
            </ns1:pPr>
            <ns1:r>
              <ns1:rPr sz="1463" b="0">
                <ns1:solidFill>
                  <ns1:srgbClr val="142637"/>
                </ns1:solidFill>
                <ns1:latin typeface="Arial"/>
                <ns1:ea typeface="Arial"/>
                <ns1:cs typeface="Arial"/>
              </ns1:rPr>
              <ns1:t>• Moins de reprises de livraison possibles : bénéfice RSE hypothétique, non mesuré.</ns1:t>
            </ns1:r>
          </ns1:p>
        </ns0:txBody>
      </ns0:sp>
      <ns0:sp>
        <ns0:nvSpPr>
          <ns0:cNvPr id="15" name="">
            <ns1:extLst>
              <ns1:ext uri="{FF2B5EF4-FFF2-40B4-BE49-F238E27FC236}">
                <ns2:creationId id="{389CEE04-B322-4816-B3C1-3E4B842B98A7}"/>
              </ns1:ext>
            </ns1:extLst>
          </ns0:cNvPr>
          <ns0:cNvSpPr>
            <ns1:spLocks noGrp="1"/>
          </ns0:cNvSpPr>
          <ns0:nvPr/>
        </ns0:nvSpPr>
        <ns0:spPr>
          <ns1:xfrm>
            <ns1:off x="6191250" y="3924300"/>
            <ns1:ext cx="5391150" cy="2228850"/>
          </ns1:xfrm>
          <ns1:prstGeom prst="rect">
            <ns1:avLst/>
          </ns1:prstGeom>
          <ns1:solidFill>
            <ns1:srgbClr val="F6F3EF"/>
          </ns1:solidFill>
          <ns1:ln w="9525">
            <ns1:solidFill>
              <ns1:srgbClr val="D8CCBE"/>
            </ns1:solidFill>
          </ns1:ln>
        </ns0:spPr>
      </ns0:sp>
      <ns0:sp>
        <ns0:nvSpPr>
          <ns0:cNvPr id="16" name="">
            <ns1:extLst>
              <ns1:ext uri="{FF2B5EF4-FFF2-40B4-BE49-F238E27FC236}">
                <ns2:creationId id="{2BE9E42A-0959-4DE6-9F48-D6CCE7A5528E}"/>
              </ns1:ext>
            </ns1:extLst>
          </ns0:cNvPr>
          <ns0:cNvSpPr>
            <ns1:spLocks noGrp="1"/>
          </ns0:cNvSpPr>
          <ns0:nvPr/>
        </ns0:nvSpPr>
        <ns0:spPr>
          <ns1:xfrm>
            <ns1:off x="6419850" y="4095750"/>
            <ns1:ext cx="4953000" cy="304800"/>
          </ns1:xfrm>
          <ns1:prstGeom prst="rect">
            <ns1:avLst/>
          </ns1:prstGeom>
          <ns1:noFill/>
          <ns1:ln w="0">
            <ns1:noFill/>
          </ns1:ln>
        </ns0:spPr>
        <ns0:txBody>
          <ns1:bodyPr anchor="ctr">
            <ns1:noAutofit/>
          </ns1:bodyPr>
          <ns1:lstStyle/>
          <ns1:p>
            <ns1:pPr>
              <ns1:defRPr sz="1725" b="1">
                <ns1:solidFill>
                  <ns1:srgbClr val="155A81"/>
                </ns1:solidFill>
                <ns1:latin typeface="Arial"/>
                <ns1:ea typeface="Arial"/>
                <ns1:cs typeface="Arial"/>
              </ns1:defRPr>
            </ns1:pPr>
            <ns1:r>
              <ns1:rPr sz="1725" b="1">
                <ns1:solidFill>
                  <ns1:srgbClr val="155A81"/>
                </ns1:solidFill>
                <ns1:latin typeface="Arial"/>
                <ns1:ea typeface="Arial"/>
                <ns1:cs typeface="Arial"/>
              </ns1:rPr>
              <ns1:t>MENACES</ns1:t>
            </ns1:r>
          </ns1:p>
        </ns0:txBody>
      </ns0:sp>
      <ns0:sp>
        <ns0:nvSpPr>
          <ns0:cNvPr id="17" name="">
            <ns1:extLst>
              <ns1:ext uri="{FF2B5EF4-FFF2-40B4-BE49-F238E27FC236}">
                <ns2:creationId id="{CC0BCC6B-FB13-449A-B221-39789A2CBDE8}"/>
              </ns1:ext>
            </ns1:extLst>
          </ns0:cNvPr>
          <ns0:cNvSpPr>
            <ns1:spLocks noGrp="1"/>
          </ns0:cNvSpPr>
          <ns0:nvPr/>
        </ns0:nvSpPr>
        <ns0:spPr>
          <ns1:xfrm>
            <ns1:off x="6419850" y="4572000"/>
            <ns1:ext cx="4905375" cy="552450"/>
          </ns1:xfrm>
          <ns1:prstGeom prst="rect">
            <ns1:avLst/>
          </ns1:prstGeom>
          <ns1:noFill/>
          <ns1:ln w="0">
            <ns1:noFill/>
          </ns1:ln>
        </ns0:spPr>
        <ns0:txBody>
          <ns1:bodyPr anchor="ctr">
            <ns1:noAutofit/>
          </ns1:bodyPr>
          <ns1:lstStyle/>
          <ns1:p>
            <ns1:pPr>
              <ns1:defRPr sz="1463" b="0">
                <ns1:solidFill>
                  <ns1:srgbClr val="142637"/>
                </ns1:solidFill>
                <ns1:latin typeface="Arial"/>
                <ns1:ea typeface="Arial"/>
                <ns1:cs typeface="Arial"/>
              </ns1:defRPr>
            </ns1:pPr>
            <ns1:r>
              <ns1:rPr sz="1463" b="0">
                <ns1:solidFill>
                  <ns1:srgbClr val="142637"/>
                </ns1:solidFill>
                <ns1:latin typeface="Arial"/>
                <ns1:ea typeface="Arial"/>
                <ns1:cs typeface="Arial"/>
              </ns1:rPr>
              <ns1:t>• Accès aux plateformes, règles de réutilisation et données personnelles.</ns1:t>
            </ns1:r>
          </ns1:p>
        </ns0:txBody>
      </ns0:sp>
      <ns0:sp>
        <ns0:nvSpPr>
          <ns0:cNvPr id="18" name="">
            <ns1:extLst>
              <ns1:ext uri="{FF2B5EF4-FFF2-40B4-BE49-F238E27FC236}">
                <ns2:creationId id="{AF6ACC25-C5B9-4A57-A2F6-68E186B3565A}"/>
              </ns1:ext>
            </ns1:extLst>
          </ns0:cNvPr>
          <ns0:cNvSpPr>
            <ns1:spLocks noGrp="1"/>
          </ns0:cNvSpPr>
          <ns0:nvPr/>
        </ns0:nvSpPr>
        <ns0:spPr>
          <ns1:xfrm>
            <ns1:off x="6419850" y="5229225"/>
            <ns1:ext cx="4905375" cy="685800"/>
          </ns1:xfrm>
          <ns1:prstGeom prst="rect">
            <ns1:avLst/>
          </ns1:prstGeom>
          <ns1:noFill/>
          <ns1:ln w="0">
            <ns1:noFill/>
          </ns1:ln>
        </ns0:spPr>
        <ns0:txBody>
          <ns1:bodyPr anchor="ctr">
            <ns1:noAutofit/>
          </ns1:bodyPr>
          <ns1:lstStyle/>
          <ns1:p>
            <ns1:pPr>
              <ns1:defRPr sz="1463" b="0">
                <ns1:solidFill>
                  <ns1:srgbClr val="142637"/>
                </ns1:solidFill>
                <ns1:latin typeface="Arial"/>
                <ns1:ea typeface="Arial"/>
                <ns1:cs typeface="Arial"/>
              </ns1:defRPr>
            </ns1:pPr>
            <ns1:r>
              <ns1:rPr sz="1463" b="0">
                <ns1:solidFill>
                  <ns1:srgbClr val="142637"/>
                </ns1:solidFill>
                <ns1:latin typeface="Arial"/>
                <ns1:ea typeface="Arial"/>
                <ns1:cs typeface="Arial"/>
              </ns1:rPr>
              <ns1:t>• Échantillons biaisés, prédictions imparfaites ; VM scolaire limitée.</ns1:t>
            </ns1:r>
          </ns1:p>
        </ns0:txBody>
      </ns0:sp>
    </ns0:spTree>
    <ns0:extLst>
      <ns0:ext uri="{BB962C8B-B14F-4D97-AF65-F5344CB8AC3E}">
        <ns3:creationId val="974076186"/>
      </ns0:ext>
    </ns0:extLst>
  </ns0:cSld>
</ns0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2026-09-22T21:22:25.2850000Z</dcterms:created>
  <dcterms:modified xsi:type="dcterms:W3CDTF">2026-09-22T21:22:25.2850000Z</dcterms:modified>
</coreProperties>
</file>